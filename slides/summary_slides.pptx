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4200" b="1">
                <a:solidFill>
                  <a:srgbClr val="102A43"/>
                </a:solidFill>
                <a:latin typeface="Aptos"/>
              </a:rPr>
              <a:t>RAG Scientific Paper QA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77240" y="2423160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400" b="0">
                <a:solidFill>
                  <a:srgbClr val="3E4C59"/>
                </a:solidFill>
                <a:latin typeface="Aptos"/>
              </a:rPr>
              <a:t>Final project summary in English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5440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1800" b="1">
                <a:solidFill>
                  <a:srgbClr val="2B6CB0"/>
                </a:solidFill>
                <a:latin typeface="Aptos"/>
              </a:rPr>
              <a:t>QASPER + BGE-M3 + FAISS + Qwen/Mistral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Project Goal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Build a scientific-paper QA assistant.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Compare Direct LLM answers with retrieval-grounded RAG answers.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Compare Qwen2.5-7B-Instruct and Mistral-7B-Instruct-v0.3.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Evaluate factual answer quality using retrieval and manual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RAG Pipeline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Load QASPER papers and QA samples.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Flatten paper id, title, question, gold answer, and evidence.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Chunk paper text into retrievable passages.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Embed chunks with BGE-M3 and store vectors in FAISS.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Retrieve top-k evidence and generate grounded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QASPER Data Processing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The final evaluation uses 22 usable QA samples.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Each row stores question, gold answer, retrieved evidence, and four generated answers.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The requested max_samples value was 30, but the available usable sample count is 22.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Results are saved in results/comparison_results.csv.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BGE-M3 + FAISS Retrieval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Embedding model: BAAI/bge-m3.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Vector backend: FAISS.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Default top_k: 5.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Retrieved evidence includes chunk id, similarity score, title, paper id, and text.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FAISS index and chunk metadata are rebuildable artifacts and are excluded from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Qwen vs Mistral / Direct vs RAG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Average manual scores: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Direct Qwen: 0.18.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Qwen: 1.64.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Direct Mistral: 0.14.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Mistral: 1.27.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clearly improves both models by giving them paper-specific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Evidence Hit Rate and Manual Scoring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Evidence Hit Rate: 95.45% (21 of 22 samples).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Manual scoring rubric: 0 = wrong, 1 = partially correct, 2 = correct.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Qwen had 16 correct answers out of 22.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Mistral had 9 correct answers out of 22.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Direct mode usually failed because it did not receive paper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Streamlit Demo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The demo loads paper titles and lets users choose a paper.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Users can select Qwen or Mistral.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Users can switch between Direct and RAG mode.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Mock mode allows lightweight UI testing without loading model weights.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RAG mode displays retrieved evidence and model/retrieval settings.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ox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3200" b="1">
                <a:solidFill>
                  <a:srgbClr val="102A43"/>
                </a:solidFill>
                <a:latin typeface="Aptos"/>
              </a:rPr>
              <a:t>Limitations and Future Work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85800" y="1143000"/>
            <a:ext cx="10881360" cy="5074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65000" rIns="100000" bIns="65000"/>
          <a:lstStyle/>
          <a:p>
            <a:pPr/>
            <a:r>
              <a:rPr lang="en-US" sz="2100" b="0">
                <a:solidFill>
                  <a:srgbClr val="243447"/>
                </a:solidFill>
                <a:latin typeface="Aptos"/>
              </a:rPr>
              <a:t>Current evaluation set is small.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Evidence Hit Rate is lexical and does not fully measure semantic relevance.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Manual scoring is subjective.</a:t>
            </a:r>
          </a:p>
          <a:p>
            <a:pPr marL="300000" indent="-180000">
              <a:buChar char="-"/>
            </a:pPr>
            <a:r>
              <a:rPr lang="en-US" sz="2100" b="0">
                <a:solidFill>
                  <a:srgbClr val="243447"/>
                </a:solidFill>
                <a:latin typeface="Aptos"/>
              </a:rPr>
              <a:t>Future work: more samples, reranking, section-aware chunking, cited answers, and stronger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">
  <a:themeElements>
    <a:clrScheme name="RAG">
      <a:dk1>
        <a:srgbClr val="102A43"/>
      </a:dk1>
      <a:lt1>
        <a:srgbClr val="FFFFFF"/>
      </a:lt1>
      <a:dk2>
        <a:srgbClr val="243447"/>
      </a:dk2>
      <a:lt2>
        <a:srgbClr val="F8FAFC"/>
      </a:lt2>
      <a:accent1>
        <a:srgbClr val="2B6CB0"/>
      </a:accent1>
      <a:accent2>
        <a:srgbClr val="38A169"/>
      </a:accent2>
      <a:accent3>
        <a:srgbClr val="C53030"/>
      </a:accent3>
      <a:accent4>
        <a:srgbClr val="805AD5"/>
      </a:accent4>
      <a:accent5>
        <a:srgbClr val="DD6B20"/>
      </a:accent5>
      <a:accent6>
        <a:srgbClr val="319795"/>
      </a:accent6>
      <a:hlink>
        <a:srgbClr val="2B6CB0"/>
      </a:hlink>
      <a:folHlink>
        <a:srgbClr val="805AD5"/>
      </a:folHlink>
    </a:clrScheme>
    <a:fontScheme name="Aptos">
      <a:majorFont>
        <a:latin typeface="Aptos"/>
      </a:majorFont>
      <a:minorFont>
        <a:latin typeface="Aptos"/>
      </a:minorFont>
    </a:fontScheme>
    <a:fmtScheme name="RA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RAG Paper QA Summary</dc:title>
  <dc:creator>Codex</dc:creator>
  <cp:lastModifiedBy>Codex</cp:lastModifiedBy>
  <dcterms:created xsi:type="dcterms:W3CDTF">2026-06-17T12:50:34Z</dcterms:created>
  <dcterms:modified xsi:type="dcterms:W3CDTF">2026-06-17T12:50:34Z</dcterms:modified>
</cp:coreProperties>
</file>